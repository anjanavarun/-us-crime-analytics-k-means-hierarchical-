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Urbanist" panose="020B0604020202020204" charset="0"/>
      <p:regular r:id="rId10"/>
      <p:bold r:id="rId11"/>
      <p:italic r:id="rId12"/>
      <p:boldItalic r:id="rId13"/>
    </p:embeddedFont>
    <p:embeddedFont>
      <p:font typeface="Urbanist SemiBold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5675" y="4726185"/>
            <a:ext cx="520065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131689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PUBLIC SAFETY &amp; RESOURCE ALLOCATION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503164"/>
            <a:ext cx="11601450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 Crime Profiling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Clustering Analytics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3602235"/>
            <a:ext cx="8096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Utilizing K-Means and Hierarchical Clustering to segment states by crime severity and population density for targeted policy intervention.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1430" y="485001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57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2860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Strategic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752725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Law enforcement resources and federal grants cannot be distributed evenly. By clustering states based on their unique crime signatures and urbanization levels, policymakers can tailor specific interventions (e.g., gang-violence task forces vs. rural patrol funding) to the regions that fit those exact profiles.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063" y="22574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46672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046558" y="4692192"/>
            <a:ext cx="46005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Dataset: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50 records, 4 variables — Murder, Assault,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UrbanPop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, Rape</a:t>
            </a:r>
            <a:endParaRPr dirty="0"/>
          </a:p>
        </p:txBody>
      </p:sp>
      <p:sp>
        <p:nvSpPr>
          <p:cNvPr id="105" name="Google Shape;105;p14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BUSINESS OBJECTIVE &amp; DATASET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763604-291C-A5EB-F78D-AA81BCC56C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516" r="11297"/>
          <a:stretch>
            <a:fillRect/>
          </a:stretch>
        </p:blipFill>
        <p:spPr>
          <a:xfrm>
            <a:off x="6249591" y="1543050"/>
            <a:ext cx="5550693" cy="44812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9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" y="170973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00075" y="1761738"/>
            <a:ext cx="17145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Elbow Curve </a:t>
            </a:r>
            <a:endParaRPr sz="180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7146745" y="1741810"/>
            <a:ext cx="2171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1800">
                <a:solidFill>
                  <a:srgbClr val="38BDF8"/>
                </a:solidFill>
                <a:latin typeface="Urbanist"/>
                <a:ea typeface="Urbanist"/>
                <a:cs typeface="Urbanist"/>
              </a:defRPr>
            </a:lvl1pPr>
          </a:lstStyle>
          <a:p>
            <a:r>
              <a:rPr lang="en-US" dirty="0">
                <a:sym typeface="Urbanist"/>
              </a:rPr>
              <a:t> Cluster Scatter Plot</a:t>
            </a:r>
            <a:endParaRPr dirty="0"/>
          </a:p>
        </p:txBody>
      </p:sp>
      <p:sp>
        <p:nvSpPr>
          <p:cNvPr id="120" name="Google Shape;120;p15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EXPLORATORY DATA ANALYSIS &amp; TUNING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A04A2E-0591-0F07-1AE2-5D777B64A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30" y="2269929"/>
            <a:ext cx="5760000" cy="3525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A74286-CE26-AF0E-13CB-6AF38F47BC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7395" y="2251075"/>
            <a:ext cx="5912138" cy="3525214"/>
          </a:xfrm>
          <a:prstGeom prst="rect">
            <a:avLst/>
          </a:prstGeom>
        </p:spPr>
      </p:pic>
      <p:pic>
        <p:nvPicPr>
          <p:cNvPr id="6" name="Google Shape;115;p15" descr="image.png">
            <a:extLst>
              <a:ext uri="{FF2B5EF4-FFF2-40B4-BE49-F238E27FC236}">
                <a16:creationId xmlns:a16="http://schemas.microsoft.com/office/drawing/2014/main" id="{DB06BDC3-DB24-9196-8A18-28BF84A1DA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4023" y="168856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8487"/>
            <a:ext cx="528637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1843087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Dendrogram Architecture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3383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Hierarchical clustering naturally grouped the 50 states into 3 distinct branches based on Euclidean distance.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261" y="18621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19150" y="3386137"/>
            <a:ext cx="503062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BBF24"/>
                </a:solidFill>
                <a:latin typeface="Urbanist"/>
                <a:ea typeface="Urbanist"/>
                <a:cs typeface="Urbanist"/>
                <a:sym typeface="Urbanist"/>
              </a:rPr>
              <a:t>Key Discoveries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00125" y="370998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57275" y="3709987"/>
            <a:ext cx="4552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Murder Gap: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Murder rates in Cluster 0 (12.3) are exponentially (4x) higher than in Cluster 2 (3.09).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00125" y="4367212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57275" y="4367212"/>
            <a:ext cx="45529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Urban Factor: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Cluster 1 is highly urbanized, yet significantly safer than Cluster 0. This mathematically proves that severe violent crime is not purely a byproduct of high population density.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HIERARCHICAL CLUSTERING INFERENCE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B54C24-4B5A-6791-1248-49389DA005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353" t="7334" r="7147"/>
          <a:stretch>
            <a:fillRect/>
          </a:stretch>
        </p:blipFill>
        <p:spPr>
          <a:xfrm>
            <a:off x="6105525" y="1738312"/>
            <a:ext cx="5828809" cy="42665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9350"/>
            <a:ext cx="5405437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419350"/>
            <a:ext cx="5405437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14400" y="3305175"/>
            <a:ext cx="5005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High-Violence States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14400" y="3724275"/>
            <a:ext cx="47672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Highest Murder rates (avg ~14) despite having a lower urban population than major metropolitan hubs.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14400" y="4286250"/>
            <a:ext cx="47672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Action Plan: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Require intense, high-priority violent crime intervention and community-based de-escalation programs.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57962" y="3305175"/>
            <a:ext cx="5005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Dangerous Urban Hubs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557962" y="3724275"/>
            <a:ext cx="47672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Highest Urban Population (avg ~76%) paired with the highest overall Assault and Rape rates.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557962" y="4286250"/>
            <a:ext cx="476726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Action Plan: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Focus on density-driven crime. Increase public safety infrastructure, lighting, and police presence in metropolitan corridors.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819400"/>
            <a:ext cx="13144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76862" y="27146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57962" y="2819400"/>
            <a:ext cx="13716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44225" y="27146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K-MEANS: THE CORE RISK SEGMENTS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9350"/>
            <a:ext cx="5405437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5062" y="2419350"/>
            <a:ext cx="5405437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914400" y="3305175"/>
            <a:ext cx="5005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Stable Metropolitan States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14400" y="3724275"/>
            <a:ext cx="47672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Highly urbanized (avg ~74%) but successfully manage to keep Murder and Assault rates significantly lower than Cluster 3.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14400" y="4286250"/>
            <a:ext cx="476726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Action Plan: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These are the "model" large states. Study their social programs and community policing strategies for national export.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557962" y="3305175"/>
            <a:ext cx="5005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Safe Rural States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557962" y="3724275"/>
            <a:ext cx="47672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"Low-Risk" group. Lowest crime rates across every single category and the lowest urbanization.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557962" y="4286250"/>
            <a:ext cx="47672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Action Plan: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Maintain rural community stability. Lower-intensity, community-focused patrol operations are sufficient.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819400"/>
            <a:ext cx="13906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8762" y="27146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57962" y="2819400"/>
            <a:ext cx="13811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44225" y="27146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K-MEANS: THE CORE RISK SEGMENTS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28900"/>
            <a:ext cx="35242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628900"/>
            <a:ext cx="35242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628900"/>
            <a:ext cx="35242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9527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866775" y="3400425"/>
            <a:ext cx="30803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Summary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66775" y="3752850"/>
            <a:ext cx="29337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Successfully segmented 50 states into distinct risk profiles using K-Means (K=4) and Hierarchical (K=3) algorithms, replacing uniform policies with data-backed clusters.</a:t>
            </a:r>
            <a:endParaRPr/>
          </a:p>
        </p:txBody>
      </p:sp>
      <p:pic>
        <p:nvPicPr>
          <p:cNvPr id="192" name="Google Shape;19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9150" y="295275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4629150" y="3400425"/>
            <a:ext cx="30803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Takeaway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4629150" y="3752850"/>
            <a:ext cx="29337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Crime severity is not strictly bound to urbanization. "Stable Metro" states prove density doesn't equal murder, while "High-Violence" states suffer despite lower populations.</a:t>
            </a:r>
            <a:endParaRPr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91525" y="2952750"/>
            <a:ext cx="190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8391525" y="3400425"/>
            <a:ext cx="30803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391525" y="3752850"/>
            <a:ext cx="2933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Integrate economic indicators (poverty rates, unemployment, education) into the dataset to identify the true root causes driving the "High-Violence" cluster.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 &amp; NEXT STEPS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Widescreen</PresentationFormat>
  <Paragraphs>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Arial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2</cp:revision>
  <dcterms:modified xsi:type="dcterms:W3CDTF">2026-05-12T10:29:00Z</dcterms:modified>
</cp:coreProperties>
</file>